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6621fb034f4bd0" /><Relationship Type="http://schemas.openxmlformats.org/officeDocument/2006/relationships/extended-properties" Target="/docProps/app.xml" Id="Rf81dc4e486594393" /><Relationship Type="http://schemas.openxmlformats.org/officeDocument/2006/relationships/officeDocument" Target="/ppt/presentation.xml" Id="R2cad15152a474c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7e57ccd5b4030"/>
  </p:sldMasterIdLst>
  <p:notesMasterIdLst>
    <p:notesMasterId xmlns:r="http://schemas.openxmlformats.org/officeDocument/2006/relationships" r:id="R0e3f22ce2f0c4c80"/>
  </p:notesMasterIdLst>
  <p:sldIdLst>
    <p:sldId xmlns:r="http://schemas.openxmlformats.org/officeDocument/2006/relationships" id="256" r:id="Rf244c118dc9941c8"/>
    <p:sldId xmlns:r="http://schemas.openxmlformats.org/officeDocument/2006/relationships" id="257" r:id="Rec85970f70c3442f"/>
    <p:sldId xmlns:r="http://schemas.openxmlformats.org/officeDocument/2006/relationships" id="258" r:id="R5d8997bb94404505"/>
    <p:sldId xmlns:r="http://schemas.openxmlformats.org/officeDocument/2006/relationships" id="259" r:id="R5b9e161b3bdb40c9"/>
    <p:sldId xmlns:r="http://schemas.openxmlformats.org/officeDocument/2006/relationships" id="260" r:id="Rd28393ed592d4669"/>
    <p:sldId xmlns:r="http://schemas.openxmlformats.org/officeDocument/2006/relationships" id="261" r:id="Rd39f5d68c34b44f9"/>
    <p:sldId xmlns:r="http://schemas.openxmlformats.org/officeDocument/2006/relationships" id="262" r:id="R0b7e362980664f66"/>
    <p:sldId xmlns:r="http://schemas.openxmlformats.org/officeDocument/2006/relationships" id="263" r:id="Rabfdf0715ef9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07ab69f8a43d5" /><Relationship Type="http://schemas.openxmlformats.org/officeDocument/2006/relationships/slideMaster" Target="/ppt/slideMasters/slideMaster1.xml" Id="R5207e57ccd5b4030" /><Relationship Type="http://schemas.openxmlformats.org/officeDocument/2006/relationships/notesMaster" Target="/ppt/notesMasters/notesMaster1.xml" Id="R0e3f22ce2f0c4c80" /><Relationship Type="http://schemas.openxmlformats.org/officeDocument/2006/relationships/presProps" Target="/ppt/presProps.xml" Id="Rd6d729edd67a4cbd" /><Relationship Type="http://schemas.openxmlformats.org/officeDocument/2006/relationships/tableStyles" Target="/ppt/tableStyles.xml" Id="Re2333d9e89c94891" /><Relationship Type="http://schemas.openxmlformats.org/officeDocument/2006/relationships/slide" Target="/ppt/slides/slide1.xml" Id="Rf244c118dc9941c8" /><Relationship Type="http://schemas.openxmlformats.org/officeDocument/2006/relationships/slide" Target="/ppt/slides/slide2.xml" Id="Rec85970f70c3442f" /><Relationship Type="http://schemas.openxmlformats.org/officeDocument/2006/relationships/slide" Target="/ppt/slides/slide3.xml" Id="R5d8997bb94404505" /><Relationship Type="http://schemas.openxmlformats.org/officeDocument/2006/relationships/slide" Target="/ppt/slides/slide4.xml" Id="R5b9e161b3bdb40c9" /><Relationship Type="http://schemas.openxmlformats.org/officeDocument/2006/relationships/slide" Target="/ppt/slides/slide5.xml" Id="Rd28393ed592d4669" /><Relationship Type="http://schemas.openxmlformats.org/officeDocument/2006/relationships/slide" Target="/ppt/slides/slide6.xml" Id="Rd39f5d68c34b44f9" /><Relationship Type="http://schemas.openxmlformats.org/officeDocument/2006/relationships/slide" Target="/ppt/slides/slide7.xml" Id="R0b7e362980664f66" /><Relationship Type="http://schemas.openxmlformats.org/officeDocument/2006/relationships/slide" Target="/ppt/slides/slide8.xml" Id="Rabfdf0715ef9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ef0256f743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9843d13324c36" /><Relationship Type="http://schemas.openxmlformats.org/officeDocument/2006/relationships/notesMaster" Target="/ppt/notesMasters/notesMaster1.xml" Id="Raca4d9ad046c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d4d9475be4d17" /><Relationship Type="http://schemas.openxmlformats.org/officeDocument/2006/relationships/notesMaster" Target="/ppt/notesMasters/notesMaster1.xml" Id="R30e7ca0bdc48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da17a9286443ed" /><Relationship Type="http://schemas.openxmlformats.org/officeDocument/2006/relationships/notesMaster" Target="/ppt/notesMasters/notesMaster1.xml" Id="Rd8ceec8c57e7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de3eaa6e14ca6" /><Relationship Type="http://schemas.openxmlformats.org/officeDocument/2006/relationships/notesMaster" Target="/ppt/notesMasters/notesMaster1.xml" Id="R80f9ed6a58e447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4cbcd96954900" /><Relationship Type="http://schemas.openxmlformats.org/officeDocument/2006/relationships/notesMaster" Target="/ppt/notesMasters/notesMaster1.xml" Id="R8d6b93fbf679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83abe5abc4128" /><Relationship Type="http://schemas.openxmlformats.org/officeDocument/2006/relationships/notesMaster" Target="/ppt/notesMasters/notesMaster1.xml" Id="R020763539c71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725e11a5245e2" /><Relationship Type="http://schemas.openxmlformats.org/officeDocument/2006/relationships/notesMaster" Target="/ppt/notesMasters/notesMaster1.xml" Id="Ra543f02a49d5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f0f44459a46c8" /><Relationship Type="http://schemas.openxmlformats.org/officeDocument/2006/relationships/notesMaster" Target="/ppt/notesMasters/notesMaster1.xml" Id="Rc3632e3fad78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Activo propio: D:\gpt decodifica\_web\decodifica.net\public\og\blog\ia-crea-presentaciones-completas.png</a:t>
            </a:r>
          </a:p>
          <a:p xmlns:a="http://schemas.openxmlformats.org/drawingml/2006/main">
            <a:r>
              <a:t>- El contenido visible y los datos de este fixture son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Marco original creado para el fixture; no contiene claims externos.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 sintética creada para comprobar tablas editables.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Todos los valores del gráfico son sintéticos y solo prueban editabilidad.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original y sintético para la prueba.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Ejemplos sintéticos para la división de responsabilidades.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Inventario derivado de los objetos creados en este mismo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Recomendación original basada únicamente en el fixture sintético.</a:t>
            </a:r>
          </a:p>
          <a:p xmlns:a="http://schemas.openxmlformats.org/drawingml/2006/main">
            <a:r>
              <a:t>
- Edición de control 5/5 aplicada después del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afcb1928949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836a670834f3c" /><Relationship Type="http://schemas.openxmlformats.org/officeDocument/2006/relationships/slideLayout" Target="/ppt/slideLayouts/slideLayout1.xml" Id="Rd5e78ffac521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e78ffac521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a2fda7d0f47c1" /><Relationship Type="http://schemas.openxmlformats.org/officeDocument/2006/relationships/image" Target="/ppt/media/image.png" Id="R9d94bcf7a32241ac" /><Relationship Type="http://schemas.openxmlformats.org/officeDocument/2006/relationships/notesSlide" Target="/ppt/notesSlides/notesSlide1.xml" Id="R1acf1c6fa76840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68a0f9c7d4feb" /><Relationship Type="http://schemas.openxmlformats.org/officeDocument/2006/relationships/notesSlide" Target="/ppt/notesSlides/notesSlide2.xml" Id="R24e0285004d245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bf7c81f5492b" /><Relationship Type="http://schemas.openxmlformats.org/officeDocument/2006/relationships/notesSlide" Target="/ppt/notesSlides/notesSlide3.xml" Id="R20c2bb4cc14a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1346de358443d" /><Relationship Type="http://schemas.openxmlformats.org/officeDocument/2006/relationships/chart" Target="/ppt/slides/charts/chart1.xml" Id="Rc7bb447ae5e54482" /><Relationship Type="http://schemas.openxmlformats.org/officeDocument/2006/relationships/notesSlide" Target="/ppt/notesSlides/notesSlide4.xml" Id="Rea1feb18e818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e9641a7bc4a59" /><Relationship Type="http://schemas.openxmlformats.org/officeDocument/2006/relationships/notesSlide" Target="/ppt/notesSlides/notesSlide5.xml" Id="R2493919da08d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c0f2b2cfa47ce" /><Relationship Type="http://schemas.openxmlformats.org/officeDocument/2006/relationships/notesSlide" Target="/ppt/notesSlides/notesSlide6.xml" Id="R0df762c2da3d40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db5a09c64c3d" /><Relationship Type="http://schemas.openxmlformats.org/officeDocument/2006/relationships/notesSlide" Target="/ppt/notesSlides/notesSlide7.xml" Id="R5a42531e1efc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e53a49fbb490b" /><Relationship Type="http://schemas.openxmlformats.org/officeDocument/2006/relationships/notesSlide" Target="/ppt/notesSlides/notesSlide8.xml" Id="Rb23e252ece30450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Sin revisión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4"/>
              <c:pt idx="0">
                <c:v>Borrador</c:v>
              </c:pt>
              <c:pt idx="1">
                <c:v>Datos</c:v>
              </c:pt>
              <c:pt idx="2">
                <c:v>Privacidad</c:v>
              </c:pt>
              <c:pt idx="3">
                <c:v>Salida</c:v>
              </c:pt>
            </c:strLit>
          </c:cat>
          <c:val>
            <c:numLit>
              <c:formatCode>General</c:formatCode>
              <c:ptCount val="4"/>
              <c:pt idx="0">
                <c:v>72</c:v>
              </c:pt>
              <c:pt idx="1">
                <c:v>61</c:v>
              </c:pt>
              <c:pt idx="2">
                <c:v>48</c:v>
              </c:pt>
              <c:pt idx="3">
                <c:v>58</c:v>
              </c:pt>
            </c:numLit>
          </c:val>
        </c:ser>
        <c:ser>
          <c:idx val="1"/>
          <c:order val="1"/>
          <c:tx>
            <c:v>Con revisión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Borrador</c:v>
              </c:pt>
              <c:pt idx="1">
                <c:v>Datos</c:v>
              </c:pt>
              <c:pt idx="2">
                <c:v>Privacidad</c:v>
              </c:pt>
              <c:pt idx="3">
                <c:v>Salida</c:v>
              </c:pt>
            </c:strLit>
          </c:cat>
          <c:val>
            <c:numLit>
              <c:formatCode>General</c:formatCode>
              <c:ptCount val="4"/>
              <c:pt idx="0">
                <c:v>88</c:v>
              </c:pt>
              <c:pt idx="1">
                <c:v>84</c:v>
              </c:pt>
              <c:pt idx="2">
                <c:v>93</c:v>
              </c:pt>
              <c:pt idx="3">
                <c:v>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0F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0F14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3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BF8703-9332-45BC-861E-2278E6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FIXTURE SINTÉTICO · 8 DIAPOSITIVAS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EB11A6-EA0B-4C2B-8131-3017E6F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1911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Adopción segura de IA: edición verificada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6491611-24AF-4909-9154-EB2BB78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000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Un archivo editable para decidir qué automatizar, qué revisar y qué no compartir.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4bcf7a32241ac"/>
          <a:srcRect xmlns:a="http://schemas.openxmlformats.org/drawingml/2006/main" l="24646" t="0" r="24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38150"/>
            <a:ext cx="5391150" cy="5581650"/>
          </a:xfrm>
          <a:prstGeom xmlns:a="http://schemas.openxmlformats.org/drawingml/2006/main" prst="roundRect">
            <a:avLst>
              <a:gd name="adj" fmla="val 2120"/>
            </a:avLst>
          </a:prstGeom>
        </p:spPr>
      </p:pic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C4B80AA-1967-49F5-8A13-33CC1F0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Datos y ejemplos inventados para esta prueba</a:t>
            </a:r>
          </a:p>
        </p:txBody>
      </p:sp>
    </p:spTree>
    <p:extLst>
      <p:ext uri="{BB962C8B-B14F-4D97-AF65-F5344CB8AC3E}">
        <p14:creationId xmlns:p14="http://schemas.microsoft.com/office/powerpoint/2010/main" val="1510033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88F6248-C305-44CF-8250-E2C9D1D2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La regla es simple: automatiza sin perder control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C69CE50-0DE2-4576-93ED-D0CD67C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ule-1-panel">
            <a:extLst xmlns:a="http://schemas.openxmlformats.org/drawingml/2006/main">
              <a:ext uri="{FF2B5EF4-FFF2-40B4-BE49-F238E27FC236}">
                <a16:creationId xmlns:a16="http://schemas.microsoft.com/office/drawing/2014/main" id="{691A1C50-8B8E-4FED-964C-1D95530A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ule-1-number">
            <a:extLst xmlns:a="http://schemas.openxmlformats.org/drawingml/2006/main">
              <a:ext uri="{FF2B5EF4-FFF2-40B4-BE49-F238E27FC236}">
                <a16:creationId xmlns:a16="http://schemas.microsoft.com/office/drawing/2014/main" id="{F7F146AA-D111-4BDA-8077-F475EFF8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ule-1-title">
            <a:extLst xmlns:a="http://schemas.openxmlformats.org/drawingml/2006/main">
              <a:ext uri="{FF2B5EF4-FFF2-40B4-BE49-F238E27FC236}">
                <a16:creationId xmlns:a16="http://schemas.microsoft.com/office/drawing/2014/main" id="{8FEEED59-04BE-4693-B9FD-E1475AF3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335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Empieza con una tarea repetible</a:t>
            </a:r>
          </a:p>
        </p:txBody>
      </p:sp>
      <p:sp>
        <p:nvSpPr>
          <p:cNvPr id="6" name="rule-1-body">
            <a:extLst xmlns:a="http://schemas.openxmlformats.org/drawingml/2006/main">
              <a:ext uri="{FF2B5EF4-FFF2-40B4-BE49-F238E27FC236}">
                <a16:creationId xmlns:a16="http://schemas.microsoft.com/office/drawing/2014/main" id="{7674A0D8-0EB4-44FA-B61D-42FA020D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Elige un proceso con entrada y salida claras.</a:t>
            </a:r>
          </a:p>
        </p:txBody>
      </p:sp>
      <p:sp>
        <p:nvSpPr>
          <p:cNvPr id="7" name="rule-2-panel">
            <a:extLst xmlns:a="http://schemas.openxmlformats.org/drawingml/2006/main">
              <a:ext uri="{FF2B5EF4-FFF2-40B4-BE49-F238E27FC236}">
                <a16:creationId xmlns:a16="http://schemas.microsoft.com/office/drawing/2014/main" id="{FEA69519-3647-4A41-B32C-F94D69C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112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rule-2-number">
            <a:extLst xmlns:a="http://schemas.openxmlformats.org/drawingml/2006/main">
              <a:ext uri="{FF2B5EF4-FFF2-40B4-BE49-F238E27FC236}">
                <a16:creationId xmlns:a16="http://schemas.microsoft.com/office/drawing/2014/main" id="{B1B96B7F-A631-40E9-AF61-88F9A1A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ule-2-title">
            <a:extLst xmlns:a="http://schemas.openxmlformats.org/drawingml/2006/main">
              <a:ext uri="{FF2B5EF4-FFF2-40B4-BE49-F238E27FC236}">
                <a16:creationId xmlns:a16="http://schemas.microsoft.com/office/drawing/2014/main" id="{FC9F5EB3-1E69-4A4C-837A-34CEF73D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Reduce el dato compartido</a:t>
            </a:r>
          </a:p>
        </p:txBody>
      </p:sp>
      <p:sp>
        <p:nvSpPr>
          <p:cNvPr id="10" name="rule-2-body">
            <a:extLst xmlns:a="http://schemas.openxmlformats.org/drawingml/2006/main">
              <a:ext uri="{FF2B5EF4-FFF2-40B4-BE49-F238E27FC236}">
                <a16:creationId xmlns:a16="http://schemas.microsoft.com/office/drawing/2014/main" id="{0BF09B4A-87CF-4AF1-81C5-8FBFA49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Usa solo lo necesario y elimina información sensible.</a:t>
            </a:r>
          </a:p>
        </p:txBody>
      </p:sp>
      <p:sp>
        <p:nvSpPr>
          <p:cNvPr id="11" name="rule-3-panel">
            <a:extLst xmlns:a="http://schemas.openxmlformats.org/drawingml/2006/main">
              <a:ext uri="{FF2B5EF4-FFF2-40B4-BE49-F238E27FC236}">
                <a16:creationId xmlns:a16="http://schemas.microsoft.com/office/drawing/2014/main" id="{2BECF901-FE29-4224-A6F7-8946368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ule-3-number">
            <a:extLst xmlns:a="http://schemas.openxmlformats.org/drawingml/2006/main">
              <a:ext uri="{FF2B5EF4-FFF2-40B4-BE49-F238E27FC236}">
                <a16:creationId xmlns:a16="http://schemas.microsoft.com/office/drawing/2014/main" id="{1A4F2D91-7E9E-4FB2-B1E2-E588EFE6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ule-3-title">
            <a:extLst xmlns:a="http://schemas.openxmlformats.org/drawingml/2006/main">
              <a:ext uri="{FF2B5EF4-FFF2-40B4-BE49-F238E27FC236}">
                <a16:creationId xmlns:a16="http://schemas.microsoft.com/office/drawing/2014/main" id="{68F54B1D-4462-4E36-8357-EBE6C5F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Conserva una revisión humana</a:t>
            </a:r>
          </a:p>
        </p:txBody>
      </p:sp>
      <p:sp>
        <p:nvSpPr>
          <p:cNvPr id="14" name="rule-3-body">
            <a:extLst xmlns:a="http://schemas.openxmlformats.org/drawingml/2006/main">
              <a:ext uri="{FF2B5EF4-FFF2-40B4-BE49-F238E27FC236}">
                <a16:creationId xmlns:a16="http://schemas.microsoft.com/office/drawing/2014/main" id="{90809AB3-0655-4BEF-8B45-DF4768F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La persona valida el resultado antes de usarlo.</a:t>
            </a:r>
          </a:p>
        </p:txBody>
      </p:sp>
    </p:spTree>
    <p:extLst>
      <p:ext uri="{BB962C8B-B14F-4D97-AF65-F5344CB8AC3E}">
        <p14:creationId xmlns:p14="http://schemas.microsoft.com/office/powerpoint/2010/main" val="1004420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2FA6918-8C08-48C6-9315-50FA5E3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No todos los datos necesitan salir de tu equipo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B86135E-C982-4F94-99C0-960C4894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111252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619375"/>
                <a:gridCol w="2619375"/>
                <a:gridCol w="3028950"/>
              </a:tblGrid>
              <a:tr h="781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Tipo de dato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Ejemplo sintético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Tratamiento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Público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Manual publicado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Puede salir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Citar y revisar la licencia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Interno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Procedimiento propio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Minimizar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Compartir extracto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Personal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Correo o teléfono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No usar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Anonimizar antes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Secreto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Token o contraseña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Nunca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F14"/>
                          </a:solidFill>
                        </a:rPr>
                        <a:t>Mantener fuera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D64A0C3B-C942-43DC-8582-683CA75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Criterio de prueba: la tabla debe seguir siendo una tabla, no una captura.</a:t>
            </a:r>
          </a:p>
        </p:txBody>
      </p:sp>
    </p:spTree>
    <p:extLst>
      <p:ext uri="{BB962C8B-B14F-4D97-AF65-F5344CB8AC3E}">
        <p14:creationId xmlns:p14="http://schemas.microsoft.com/office/powerpoint/2010/main" val="1786542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A1B1008-A8B6-4256-B414-1DF84B7E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La revisión reduce fallos antes de escalar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575C2123-3C8C-434F-A6F0-CDA5AD9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52450" y="14668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bb447ae5e54482"/>
          </a:graphicData>
        </a:graphic>
      </p:graphicFrame>
      <p:sp>
        <p:nvSpPr>
          <p:cNvPr id="4" name="chart-interpretation">
            <a:extLst xmlns:a="http://schemas.openxmlformats.org/drawingml/2006/main">
              <a:ext uri="{FF2B5EF4-FFF2-40B4-BE49-F238E27FC236}">
                <a16:creationId xmlns:a16="http://schemas.microsoft.com/office/drawing/2014/main" id="{70F00DEF-12C7-4875-B8E2-98B7EC6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hart-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29568683-810B-4CF5-A112-CD27674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Qué demuestra</a:t>
            </a:r>
          </a:p>
        </p:txBody>
      </p:sp>
      <p:sp>
        <p:nvSpPr>
          <p:cNvPr id="6" name="chart-interpretation-body">
            <a:extLst xmlns:a="http://schemas.openxmlformats.org/drawingml/2006/main">
              <a:ext uri="{FF2B5EF4-FFF2-40B4-BE49-F238E27FC236}">
                <a16:creationId xmlns:a16="http://schemas.microsoft.com/office/drawing/2014/main" id="{E6154C11-A69E-4FD9-B6F3-E53260F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El gráfico es nativo y sus series pueden cambiarse. Los valores son inventados: prueban editabilidad, no rendimiento real.</a:t>
            </a:r>
          </a:p>
        </p:txBody>
      </p:sp>
    </p:spTree>
    <p:extLst>
      <p:ext uri="{BB962C8B-B14F-4D97-AF65-F5344CB8AC3E}">
        <p14:creationId xmlns:p14="http://schemas.microsoft.com/office/powerpoint/2010/main" val="1580816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02DC5D1-846D-4BDA-A090-256A6BB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Un workflow seguro deja cinco puntos de control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3C125D6-8909-467C-8B61-1BCE25D6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connector-1">
            <a:extLst xmlns:a="http://schemas.openxmlformats.org/drawingml/2006/main">
              <a:ext uri="{FF2B5EF4-FFF2-40B4-BE49-F238E27FC236}">
                <a16:creationId xmlns:a16="http://schemas.microsoft.com/office/drawing/2014/main" id="{C603DEEF-C499-4C21-8B05-2E64E3DF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167F592A-15B1-4A00-8D49-64B4384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connector-3">
            <a:extLst xmlns:a="http://schemas.openxmlformats.org/drawingml/2006/main">
              <a:ext uri="{FF2B5EF4-FFF2-40B4-BE49-F238E27FC236}">
                <a16:creationId xmlns:a16="http://schemas.microsoft.com/office/drawing/2014/main" id="{4F85D706-24A3-4130-B47E-B224230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connector-4">
            <a:extLst xmlns:a="http://schemas.openxmlformats.org/drawingml/2006/main">
              <a:ext uri="{FF2B5EF4-FFF2-40B4-BE49-F238E27FC236}">
                <a16:creationId xmlns:a16="http://schemas.microsoft.com/office/drawing/2014/main" id="{0BDE282F-6D16-41FE-A004-154F7B36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5540426-F1F0-4339-9A57-FCF37018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8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1D3DBB4-C3D1-46D9-B6A7-886E881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Filtro</a:t>
            </a:r>
          </a:p>
        </p:txBody>
      </p:sp>
      <p:sp>
        <p:nvSpPr>
          <p:cNvPr id="9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EF71F88B-9062-4125-9024-7B6F42E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0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36AE49B8-F6D0-406B-9D2B-0B2C8C1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B0"/>
          </a:solidFill>
          <a:ln xmlns:a="http://schemas.openxmlformats.org/drawingml/2006/main" w="19050">
            <a:solidFill>
              <a:srgbClr val="1D7A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11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C3018C36-4838-4831-BC3B-8BBF25C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Uso</a:t>
            </a:r>
          </a:p>
        </p:txBody>
      </p:sp>
      <p:sp>
        <p:nvSpPr>
          <p:cNvPr id="12" name="workflow-caption">
            <a:extLst xmlns:a="http://schemas.openxmlformats.org/drawingml/2006/main">
              <a:ext uri="{FF2B5EF4-FFF2-40B4-BE49-F238E27FC236}">
                <a16:creationId xmlns:a16="http://schemas.microsoft.com/office/drawing/2014/main" id="{6AD9C053-BFC7-4EDC-A0FD-7F4272D0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Cada círculo y cada enlace conserva su geometría propia dentro del PPTX.</a:t>
            </a:r>
          </a:p>
        </p:txBody>
      </p:sp>
    </p:spTree>
    <p:extLst>
      <p:ext uri="{BB962C8B-B14F-4D97-AF65-F5344CB8AC3E}">
        <p14:creationId xmlns:p14="http://schemas.microsoft.com/office/powerpoint/2010/main" val="1356961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05724F3-2C93-4717-B1D2-AAA3B2B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Automatiza el borrador; conserva la decisión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C432E86D-704F-4303-90E6-CA4BF0B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utomate-panel">
            <a:extLst xmlns:a="http://schemas.openxmlformats.org/drawingml/2006/main">
              <a:ext uri="{FF2B5EF4-FFF2-40B4-BE49-F238E27FC236}">
                <a16:creationId xmlns:a16="http://schemas.microsoft.com/office/drawing/2014/main" id="{CF74BD6D-28E6-481F-B569-28C9CE2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5143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uman-panel">
            <a:extLst xmlns:a="http://schemas.openxmlformats.org/drawingml/2006/main">
              <a:ext uri="{FF2B5EF4-FFF2-40B4-BE49-F238E27FC236}">
                <a16:creationId xmlns:a16="http://schemas.microsoft.com/office/drawing/2014/main" id="{69FA60EB-FF22-456A-98A1-2495D188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43050"/>
            <a:ext cx="56769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1D7A4D"/>
            </a:solidFill>
            <a:prstDash val="solid"/>
          </a:ln>
        </p:spPr>
      </p:sp>
      <p:sp>
        <p:nvSpPr>
          <p:cNvPr id="5" name="automate-heading">
            <a:extLst xmlns:a="http://schemas.openxmlformats.org/drawingml/2006/main">
              <a:ext uri="{FF2B5EF4-FFF2-40B4-BE49-F238E27FC236}">
                <a16:creationId xmlns:a16="http://schemas.microsoft.com/office/drawing/2014/main" id="{87892706-8D6C-4686-B647-43E4B3F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Sí puede automatizarse</a:t>
            </a:r>
          </a:p>
        </p:txBody>
      </p:sp>
      <p:sp>
        <p:nvSpPr>
          <p:cNvPr id="6" name="automate-body">
            <a:extLst xmlns:a="http://schemas.openxmlformats.org/drawingml/2006/main">
              <a:ext uri="{FF2B5EF4-FFF2-40B4-BE49-F238E27FC236}">
                <a16:creationId xmlns:a16="http://schemas.microsoft.com/office/drawing/2014/main" id="{743BB251-D725-4BAF-A541-5E2545F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Resumir un documento público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Proponer una estructura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Aplicar un formato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Señalar inconsistencias</a:t>
            </a:r>
          </a:p>
        </p:txBody>
      </p:sp>
      <p:sp>
        <p:nvSpPr>
          <p:cNvPr id="7" name="human-heading">
            <a:extLst xmlns:a="http://schemas.openxmlformats.org/drawingml/2006/main">
              <a:ext uri="{FF2B5EF4-FFF2-40B4-BE49-F238E27FC236}">
                <a16:creationId xmlns:a16="http://schemas.microsoft.com/office/drawing/2014/main" id="{80A213EC-4D2C-4626-8AB2-B89B144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7A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7A4D"/>
                </a:solidFill>
                <a:latin typeface="Arial"/>
                <a:ea typeface="Arial"/>
                <a:cs typeface="Arial"/>
              </a:rPr>
              <a:t>Debe quedarse en manos humanas</a:t>
            </a:r>
          </a:p>
        </p:txBody>
      </p:sp>
      <p:sp>
        <p:nvSpPr>
          <p:cNvPr id="8" name="human-body">
            <a:extLst xmlns:a="http://schemas.openxmlformats.org/drawingml/2006/main">
              <a:ext uri="{FF2B5EF4-FFF2-40B4-BE49-F238E27FC236}">
                <a16:creationId xmlns:a16="http://schemas.microsoft.com/office/drawing/2014/main" id="{27377DF3-13C4-4457-8935-48F704E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Aceptar una cifra crítica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Autorizar una publicación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Compartir datos personales</a:t>
            </a:r>
          </a:p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• Asumir un riesgo legal</a:t>
            </a:r>
          </a:p>
        </p:txBody>
      </p:sp>
    </p:spTree>
    <p:extLst>
      <p:ext uri="{BB962C8B-B14F-4D97-AF65-F5344CB8AC3E}">
        <p14:creationId xmlns:p14="http://schemas.microsoft.com/office/powerpoint/2010/main" val="875507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878EC49-2D24-4B50-B757-9105DE09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La prueba exige objetos, no una imagen aplanada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9C236594-AC70-4170-B2F1-451CA5D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11125200" cy="4229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095750"/>
                <a:gridCol w="4648200"/>
              </a:tblGrid>
              <a:tr h="60415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Elemento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Cómo queda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Edición de control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Texto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Cajas editables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Cambiar título</a:t>
                      </a:r>
                    </a:p>
                  </a:txBody>
                  <a:tcPr marL="91440" marR="91440" marT="45720" marB="45720"/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Tabla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Celdas nativas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Corregir una decisión</a:t>
                      </a:r>
                    </a:p>
                  </a:txBody>
                  <a:tcPr marL="91440" marR="91440" marT="45720" marB="45720"/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Gráfico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Series nativas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Modificar un valor</a:t>
                      </a:r>
                    </a:p>
                  </a:txBody>
                  <a:tcPr marL="91440" marR="91440" marT="45720" marB="45720"/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Formas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Geometría nativa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Cambiar un color</a:t>
                      </a:r>
                    </a:p>
                  </a:txBody>
                  <a:tcPr marL="91440" marR="91440" marT="45720" marB="45720"/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Notas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Notas del orador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Añadir una fuente</a:t>
                      </a:r>
                    </a:p>
                  </a:txBody>
                  <a:tcPr marL="91440" marR="91440" marT="45720" marB="45720"/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Imagen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Raster incrustado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B0F14"/>
                          </a:solidFill>
                        </a:rPr>
                        <a:t>Reemplazar el activo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576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7D9B548-B6B4-499D-AB26-C17EB71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BC04D3F-083D-4A8D-9D8A-3651422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Empieza por un flujo pequeño y verificable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BD34C982-C401-428D-94EF-C4D79A7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6DEE8"/>
                </a:solidFill>
                <a:latin typeface="Arial"/>
                <a:ea typeface="Arial"/>
                <a:cs typeface="Arial"/>
              </a:rPr>
              <a:t>Si no puedes explicar la entrada, la revisión y la salida, todavía no conviene automatizarlo.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31B988D7-FB32-4AEB-ADDA-79BFAEE7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286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lose-rule-text">
            <a:extLst xmlns:a="http://schemas.openxmlformats.org/drawingml/2006/main">
              <a:ext uri="{FF2B5EF4-FFF2-40B4-BE49-F238E27FC236}">
                <a16:creationId xmlns:a16="http://schemas.microsoft.com/office/drawing/2014/main" id="{78ECCCA8-C9B2-457C-8313-8A987E7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161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tarea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responsable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criterio de éxito</a:t>
            </a:r>
          </a:p>
        </p:txBody>
      </p:sp>
    </p:spTree>
    <p:extLst>
      <p:ext uri="{BB962C8B-B14F-4D97-AF65-F5344CB8AC3E}">
        <p14:creationId xmlns:p14="http://schemas.microsoft.com/office/powerpoint/2010/main" val="1217577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2026-08-15T23:39:45.0290000Z</dcterms:created>
  <dcterms:modified xsi:type="dcterms:W3CDTF">2026-08-15T23:39:45.0290000Z</dcterms:modified>
</coreProperties>
</file>